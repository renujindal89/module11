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2E8BE-B73D-4BEF-9852-FFEBEF1BD3A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68ECCC-4C64-469D-9B0A-18473A442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686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5051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369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369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406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4496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7491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8BE6-0FDF-32AD-206B-5E62BFE56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C4EA6-3978-F584-5D1E-DC2692976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7B52E-BECC-572A-40F5-55573F9C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14AFD-AAEA-49B6-9199-BAE959C9039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D7F58-4A7C-F2CF-A001-167CB0CD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C1C3D-29A6-5E88-1755-CD09CD80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D60A4-1449-4B86-B103-E87F8A364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562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7625-90F9-B757-76F6-4131A863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21746-A647-2297-D717-99D6DE185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257B0-9B99-25BB-D279-89900370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14AFD-AAEA-49B6-9199-BAE959C9039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8983D-EAA1-7809-D3F1-98D8C4F9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94835-C75B-ABF1-5162-70C86CB6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D60A4-1449-4B86-B103-E87F8A364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259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EC2D-7CAD-4DDD-DFF4-C174E65B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C6CB5-8736-692F-67BC-CBC8CCC3F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6068D-65C9-B3A9-BF6E-7A60B7FF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14AFD-AAEA-49B6-9199-BAE959C9039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F16E8-373A-4065-E8B2-F74D196E4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7139D-C7B5-D19A-EECC-D824948D2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D60A4-1449-4B86-B103-E87F8A364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14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25A7-C280-90AE-46D2-E125E680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CA0A6-40E2-0762-E3E8-EFAB55C0C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B3870-A34C-8BC9-722E-8A0EAD48B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4A30D-E6CB-317F-BE07-E1CC91F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14AFD-AAEA-49B6-9199-BAE959C9039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E7957-66E1-3F22-5CB7-21CA91729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EE23E-F20C-B7AE-1E0E-943DDF0C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D60A4-1449-4B86-B103-E87F8A364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530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BE5E-93F3-03FA-317C-75BBF72BE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55CF7-C28E-5805-73F7-5F065666D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F5245-9A8B-8872-CD98-526CE92B9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9FCA26-0F24-9882-02EE-46B84406B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E2257-05B1-CD15-CDDA-7926A5B8B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FD8D49-86E8-B203-AB0A-9867FD6BE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14AFD-AAEA-49B6-9199-BAE959C9039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2948CB-1FFF-9355-743C-73F0CEC9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3A4A81-2038-123E-373A-E78F5A035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D60A4-1449-4B86-B103-E87F8A364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924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114D-16F6-0F13-BA31-BC87447F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9BF24-9CCC-AFD4-FE2F-D5966D5D0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14AFD-AAEA-49B6-9199-BAE959C9039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C5D791-CCA1-BCBC-651D-48464CBC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AF776-D850-1674-3323-EE113801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D60A4-1449-4B86-B103-E87F8A364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908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ED9AF-EFC4-F779-A1C0-3BEAA7B10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14AFD-AAEA-49B6-9199-BAE959C9039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D5B5F2-EDBB-7C5E-F917-B427AF2B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DB517-E656-3518-7186-2B321AC2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D60A4-1449-4B86-B103-E87F8A364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112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30B37-54C3-570C-A6DF-703ACF76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B93B2-DFC9-287B-DD59-F00DA736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B40D3-FE45-E372-02F4-12778BFEC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C8F17-256D-5D1A-6789-16D443E99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14AFD-AAEA-49B6-9199-BAE959C9039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62795-DC9B-7B1F-7B35-7340CDF1D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FCCEE-2EFE-6C1A-45D3-E8EBCAD40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D60A4-1449-4B86-B103-E87F8A364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07A4-9221-D994-C956-7D425E9B7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A63C3-4876-FC36-9C0C-A7EC78B24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6A142-7D04-0218-155E-871D9DD27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99FD5-F88E-F671-B91F-2C87671A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14AFD-AAEA-49B6-9199-BAE959C9039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0CA32-F089-BCB0-F224-C7E257CD9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1080C-34D1-9CDD-1110-61139FE28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D60A4-1449-4B86-B103-E87F8A364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844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1503D-B584-7FB3-6B84-EB82ADD0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F1235-DB69-9766-DEE6-20B8EB857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94449-D70B-57E3-BCBA-0B04C07F5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14AFD-AAEA-49B6-9199-BAE959C9039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52A3A-9805-7F4F-6EA8-0A146806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1F627-8AF3-3697-2C7C-8E7A7018A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D60A4-1449-4B86-B103-E87F8A364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633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A8367-F5EE-9D56-35B3-D0BF5901EE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9D512-37A8-6CF6-CE2B-8918A1A41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CE2B0-DEA4-5607-82DD-AACCD8FD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14AFD-AAEA-49B6-9199-BAE959C9039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E4EE2-3721-0616-25D8-F520AA137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9F104-1344-2C32-D888-210ED412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D60A4-1449-4B86-B103-E87F8A364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385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 - Yellow - Clien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curved lines&#10;&#10;AI-generated content may be incorrect.">
            <a:extLst>
              <a:ext uri="{FF2B5EF4-FFF2-40B4-BE49-F238E27FC236}">
                <a16:creationId xmlns:a16="http://schemas.microsoft.com/office/drawing/2014/main" id="{B73DC436-C430-1491-E846-E1D25FC068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226183" cy="6858000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630086" y="3705443"/>
            <a:ext cx="4931833" cy="27098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buNone/>
              <a:defRPr sz="1333" b="0" i="0" spc="267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2515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55612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130244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443495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/>
              <a:t>PRESENTATION DATE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-34183" y="8110409"/>
            <a:ext cx="12260365" cy="0"/>
          </a:xfrm>
          <a:prstGeom prst="line">
            <a:avLst/>
          </a:prstGeom>
          <a:ln w="6350" cap="flat" cmpd="sng" algn="ctr">
            <a:solidFill>
              <a:schemeClr val="accent5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765173" y="2215092"/>
            <a:ext cx="10611576" cy="732869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48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Presentation Title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65173" y="3093068"/>
            <a:ext cx="10611576" cy="46727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133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2515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2pPr>
            <a:lvl3pPr marL="755612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3pPr>
            <a:lvl4pPr marL="1130244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4pPr>
            <a:lvl5pPr marL="1443495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5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64F9DD-DE30-C34A-A485-A07A839C3CA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063317" y="5454985"/>
            <a:ext cx="3510899" cy="6833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client logo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32B273F-83BA-A2C5-1897-4D85557BA0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256" y="3560340"/>
            <a:ext cx="37592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18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- White">
    <p:bg>
      <p:bgPr>
        <a:solidFill>
          <a:srgbClr val="FE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85950" y="571697"/>
            <a:ext cx="10807652" cy="440488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lnSpc>
                <a:spcPts val="2667"/>
              </a:lnSpc>
              <a:defRPr sz="2933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Slide title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00608-C600-554E-813F-6D4EC02AF4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9070" y="1583269"/>
            <a:ext cx="10807700" cy="2800351"/>
          </a:xfrm>
          <a:prstGeom prst="rect">
            <a:avLst/>
          </a:prstGeom>
        </p:spPr>
        <p:txBody>
          <a:bodyPr/>
          <a:lstStyle>
            <a:lvl1pPr marL="380981" indent="-380981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98988" indent="-243405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3926" indent="-239173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77330" indent="-243405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16502" indent="-239173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5C8156-3E9F-6D42-BC09-E86831EB4BD7}"/>
              </a:ext>
            </a:extLst>
          </p:cNvPr>
          <p:cNvSpPr txBox="1"/>
          <p:nvPr userDrawn="1"/>
        </p:nvSpPr>
        <p:spPr>
          <a:xfrm>
            <a:off x="11469217" y="6576097"/>
            <a:ext cx="666087" cy="19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99FBE0F-E013-8744-85F1-2202A360EF8A}" type="slidenum">
              <a:rPr lang="en-US" sz="667" b="0" i="0" spc="0" baseline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667" b="0" i="0" spc="0" baseline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BCDDE-4B2D-D9CB-1B80-F64BBF7AB9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58997"/>
            <a:ext cx="419279" cy="35890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80FCFB7-345B-5532-901F-FB3C2AA30452}"/>
              </a:ext>
            </a:extLst>
          </p:cNvPr>
          <p:cNvGrpSpPr/>
          <p:nvPr userDrawn="1"/>
        </p:nvGrpSpPr>
        <p:grpSpPr>
          <a:xfrm>
            <a:off x="-56699" y="6286303"/>
            <a:ext cx="12248699" cy="582884"/>
            <a:chOff x="-42524" y="4714727"/>
            <a:chExt cx="9186524" cy="43716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AD3E70E-8207-1DD9-A0BA-C9B76DADC2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2524" y="4714727"/>
              <a:ext cx="9186524" cy="437163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7882186-B640-AD70-6515-3EE323ECF299}"/>
                </a:ext>
              </a:extLst>
            </p:cNvPr>
            <p:cNvGrpSpPr/>
            <p:nvPr userDrawn="1"/>
          </p:nvGrpSpPr>
          <p:grpSpPr>
            <a:xfrm>
              <a:off x="157229" y="4832170"/>
              <a:ext cx="1798358" cy="269180"/>
              <a:chOff x="314460" y="4647384"/>
              <a:chExt cx="2355272" cy="359852"/>
            </a:xfrm>
          </p:grpSpPr>
          <p:pic>
            <p:nvPicPr>
              <p:cNvPr id="12" name="Picture 11" descr="A black background with white text&#10;&#10;AI-generated content may be incorrect.">
                <a:extLst>
                  <a:ext uri="{FF2B5EF4-FFF2-40B4-BE49-F238E27FC236}">
                    <a16:creationId xmlns:a16="http://schemas.microsoft.com/office/drawing/2014/main" id="{14B8BAAB-1A0E-E7F6-9140-98409B12FF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43" t="31741" r="22676" b="46337"/>
              <a:stretch/>
            </p:blipFill>
            <p:spPr>
              <a:xfrm>
                <a:off x="314460" y="4647384"/>
                <a:ext cx="907472" cy="359852"/>
              </a:xfrm>
              <a:prstGeom prst="rect">
                <a:avLst/>
              </a:prstGeom>
            </p:spPr>
          </p:pic>
          <p:pic>
            <p:nvPicPr>
              <p:cNvPr id="13" name="Picture 12" descr="A black background with white text&#10;&#10;AI-generated content may be incorrect.">
                <a:extLst>
                  <a:ext uri="{FF2B5EF4-FFF2-40B4-BE49-F238E27FC236}">
                    <a16:creationId xmlns:a16="http://schemas.microsoft.com/office/drawing/2014/main" id="{7C5C02F2-245D-A75B-547C-7883F417D6D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07" t="53939" r="23341" b="35665"/>
              <a:stretch/>
            </p:blipFill>
            <p:spPr>
              <a:xfrm>
                <a:off x="1221932" y="4714151"/>
                <a:ext cx="1447800" cy="29308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544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74">
          <p15:clr>
            <a:srgbClr val="FBAE40"/>
          </p15:clr>
        </p15:guide>
        <p15:guide id="2" pos="31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0A639D-51BF-65B3-83F2-9392C8513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81980-D1BB-DD74-FF98-5E7B83784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6A36F-C1DD-8535-03E8-28D0282A8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14AFD-AAEA-49B6-9199-BAE959C9039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6389A-81A3-B1CE-03BD-35F28FBC9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4ECEC-16ED-F672-D457-BC99C62EB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D60A4-1449-4B86-B103-E87F8A364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97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AFF9-A359-8A4B-413B-7D26E99D7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E9AF4-B5DC-A9FE-D76F-26C3B2DC6A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953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5DBB10-2080-5746-8D95-B85AAFEC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424" y="2286264"/>
            <a:ext cx="10174891" cy="732869"/>
          </a:xfrm>
        </p:spPr>
        <p:txBody>
          <a:bodyPr>
            <a:normAutofit/>
          </a:bodyPr>
          <a:lstStyle/>
          <a:p>
            <a:pPr algn="l"/>
            <a:r>
              <a:rPr lang="en-IN" b="0" dirty="0"/>
              <a:t>Regular Expressions </a:t>
            </a:r>
          </a:p>
        </p:txBody>
      </p:sp>
    </p:spTree>
    <p:extLst>
      <p:ext uri="{BB962C8B-B14F-4D97-AF65-F5344CB8AC3E}">
        <p14:creationId xmlns:p14="http://schemas.microsoft.com/office/powerpoint/2010/main" val="1224547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76123" y="1399629"/>
            <a:ext cx="1060991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/>
                <a:cs typeface="Times New Roman"/>
              </a:rPr>
              <a:t>Regular Expressions, often called </a:t>
            </a:r>
            <a:r>
              <a:rPr lang="en-US" altLang="en-US" sz="1600" b="1" dirty="0">
                <a:latin typeface="Times New Roman"/>
                <a:cs typeface="Times New Roman"/>
              </a:rPr>
              <a:t>Regex</a:t>
            </a:r>
            <a:r>
              <a:rPr lang="en-US" altLang="en-US" sz="1600" dirty="0">
                <a:latin typeface="Times New Roman"/>
                <a:cs typeface="Times New Roman"/>
              </a:rPr>
              <a:t>, are a powerful mini-language for finding and manipulating patterns within text. Think of it as a supercharged "Find &amp; Replace" that can handle complex rules. To use it in Python, you first need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import 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.</a:t>
            </a:r>
            <a:endParaRPr lang="en-US" altLang="en-US" sz="1600" dirty="0">
              <a:latin typeface="Times New Roman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250442" y="3567019"/>
            <a:ext cx="8228838" cy="2234341"/>
            <a:chOff x="478282" y="2527996"/>
            <a:chExt cx="9924003" cy="2276793"/>
          </a:xfrm>
        </p:grpSpPr>
        <p:grpSp>
          <p:nvGrpSpPr>
            <p:cNvPr id="6" name="Group 5"/>
            <p:cNvGrpSpPr/>
            <p:nvPr/>
          </p:nvGrpSpPr>
          <p:grpSpPr>
            <a:xfrm>
              <a:off x="478282" y="2527996"/>
              <a:ext cx="9905236" cy="2276793"/>
              <a:chOff x="495867" y="2527996"/>
              <a:chExt cx="9905236" cy="2276793"/>
            </a:xfrm>
            <a:solidFill>
              <a:srgbClr val="F0F4F9"/>
            </a:solidFill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5867" y="2527996"/>
                <a:ext cx="7630590" cy="2276793"/>
              </a:xfrm>
              <a:prstGeom prst="rect">
                <a:avLst/>
              </a:prstGeom>
              <a:grpFill/>
            </p:spPr>
          </p:pic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4"/>
              <a:srcRect l="68971"/>
              <a:stretch/>
            </p:blipFill>
            <p:spPr>
              <a:xfrm>
                <a:off x="8018586" y="2585888"/>
                <a:ext cx="2382517" cy="2143424"/>
              </a:xfrm>
              <a:prstGeom prst="rect">
                <a:avLst/>
              </a:prstGeom>
              <a:grpFill/>
            </p:spPr>
          </p:pic>
        </p:grpSp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4"/>
            <a:srcRect l="69887" t="90610"/>
            <a:stretch/>
          </p:blipFill>
          <p:spPr>
            <a:xfrm>
              <a:off x="8071338" y="2527996"/>
              <a:ext cx="2312180" cy="201274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4"/>
            <a:srcRect l="69887" t="90610"/>
            <a:stretch/>
          </p:blipFill>
          <p:spPr>
            <a:xfrm>
              <a:off x="8090105" y="4603515"/>
              <a:ext cx="2312180" cy="201274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/>
        </p:nvSpPr>
        <p:spPr>
          <a:xfrm>
            <a:off x="976123" y="2116832"/>
            <a:ext cx="1868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250443" y="2507071"/>
            <a:ext cx="7060437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en-US" altLang="en-US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re.search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First Match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scans a string and looks for the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location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the pattern matches. If it finds a match, it returns a special "match object"; otherwise, it returns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873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788" y="2360354"/>
            <a:ext cx="6601746" cy="1295581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81294" y="1307625"/>
            <a:ext cx="1079682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Find All Matches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one of the most useful functions. It finds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non-overlapping matches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pattern in a string and returns them as a simple list of strings.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270000" y="3792053"/>
            <a:ext cx="549374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re.sub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Find and Replace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replaces all occurrences of a pattern with a specified string.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788" y="4590091"/>
            <a:ext cx="6020640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71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788" y="2360354"/>
            <a:ext cx="6601746" cy="1295581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81294" y="1307625"/>
            <a:ext cx="1079682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Find All Matches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one of the most useful functions. It finds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non-overlapping matches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pattern in a string and returns them as a simple list of strings.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270000" y="3792053"/>
            <a:ext cx="549374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re.sub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Find and Replace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replaces all occurrences of a pattern with a specified string.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788" y="4590091"/>
            <a:ext cx="6020640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0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6054" y="1102739"/>
            <a:ext cx="3388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 (How Many Times?)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7005" y="1710901"/>
            <a:ext cx="7444379" cy="1966546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84633" y="3676563"/>
            <a:ext cx="7672646" cy="2659664"/>
            <a:chOff x="924073" y="2657218"/>
            <a:chExt cx="7116168" cy="293421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5"/>
            <a:srcRect b="41970"/>
            <a:stretch/>
          </p:blipFill>
          <p:spPr>
            <a:xfrm>
              <a:off x="924073" y="2657218"/>
              <a:ext cx="7116168" cy="2133857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5"/>
            <a:srcRect t="76421"/>
            <a:stretch/>
          </p:blipFill>
          <p:spPr>
            <a:xfrm>
              <a:off x="924073" y="4724400"/>
              <a:ext cx="7116168" cy="8670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147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05025" y="1444109"/>
            <a:ext cx="10589133" cy="10772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 with Parentheses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Times New Roman"/>
                <a:cs typeface="Times New Roman"/>
              </a:rPr>
              <a:t>Parentheses do two things: they group parts of a pattern together, and they "capture" the text that matches inside them. This is extremely useful for extracting specific pieces of information.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</a:t>
            </a:r>
            <a:endParaRPr lang="en-US" altLang="en-US" sz="1600" b="1" dirty="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901198" y="2976038"/>
            <a:ext cx="8891785" cy="2071833"/>
            <a:chOff x="685950" y="2585893"/>
            <a:chExt cx="8891785" cy="207183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950" y="2585893"/>
              <a:ext cx="7449590" cy="2067213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4"/>
            <a:srcRect t="1905" b="6547"/>
            <a:stretch/>
          </p:blipFill>
          <p:spPr>
            <a:xfrm>
              <a:off x="4595465" y="2590800"/>
              <a:ext cx="4982270" cy="20669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6879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58361" y="1329809"/>
            <a:ext cx="10422396" cy="10772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Pre-compiling Patterns for Performance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If you plan to use the same Regex pattern many times (like inside a large loop), you can "compile" it first. This makes it slightly more efficient.</a:t>
            </a:r>
            <a:endParaRPr lang="en-IN" sz="1600" dirty="0">
              <a:latin typeface="Times New Roman"/>
              <a:cs typeface="Times New Roman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65" y="2753213"/>
            <a:ext cx="6462962" cy="280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02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Widescreen</PresentationFormat>
  <Paragraphs>36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 Light</vt:lpstr>
      <vt:lpstr>Roboto Thin</vt:lpstr>
      <vt:lpstr>Times New Roman</vt:lpstr>
      <vt:lpstr>Office Theme</vt:lpstr>
      <vt:lpstr>PowerPoint Presentation</vt:lpstr>
      <vt:lpstr>Regular Expressions </vt:lpstr>
      <vt:lpstr>Regular Expressions</vt:lpstr>
      <vt:lpstr>Regular Expressions</vt:lpstr>
      <vt:lpstr>Regular Expressions</vt:lpstr>
      <vt:lpstr>Regular Expressions</vt:lpstr>
      <vt:lpstr>Regular Expressions</vt:lpstr>
      <vt:lpstr>Regular Expressions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Renu  Jindal</dc:creator>
  <cp:lastModifiedBy>Renu  Jindal</cp:lastModifiedBy>
  <cp:revision>1</cp:revision>
  <dcterms:created xsi:type="dcterms:W3CDTF">2025-11-19T16:38:53Z</dcterms:created>
  <dcterms:modified xsi:type="dcterms:W3CDTF">2025-11-19T16:38:53Z</dcterms:modified>
</cp:coreProperties>
</file>